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同学们好，今天我们来学习第三章集合与关系。这一章是离散数学的基础，也是我们后续做测试用例设计、等价类划分的数学工具。希望大家带着'这能用来做什么'的问题来学习。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今天我们围绕五个核心概念展开：集合、集合运算、二元关系、等价关系、偏序关系。每个概念我们都将结合端到端测试的实际场景来理解。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这张图是我们今天的路线图。从最基础的集合概念出发，逐步深入到关系，最后回到测试应用。大家可以先有一个整体印象。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请大家思考这个场景。如果让你来设计测试用例，你会怎么组织？这些问题正是集合论要解决的。——先别急着回答，我们学完本章后你会有更精确的数学语言。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集合是数学中最基本的概念。注意三个性质：确定性——元素要么属于要么不属于；互异性——集合中不能有重复元素；无序性——{1,2,3}={3,2,1}。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两种表示法各有适用场景。在测试中，测试用例集合通常用列举法，而输入域（如所有合法用户名）通常用描述法。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四种基本运算。注意补集运算需要先明确全集U。在测试中，全集就是所有可能的输入数据。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这些运算律可以帮助我们简化集合表达式。在测试覆盖准则分析中，经常需要化简集合表达式来判断准则之间的关系。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给大家两分钟时间，独立完成这四道小题。…（等待）…好，我们一起来看答案。有做错的同学请举手，我们看看哪里出了问题。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关系本质上是一个集合——笛卡尔积的子集。在测试中，输入和输出之间的对应关系就是一个二元关系。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等价关系是最重要的关系类型之一。注意三个性质缺一不可。我们用模3同余来直观感受：1和4等价，4和7等价，则1和7也等价——这就是传递性。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这是今天的重点也是难点。我们用三步法来理解：先有生活直觉，再动手计算，最后反向构造。这样双向理解，才能真正掌握等价关系和划分的对应关系。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等价类划分测试法是软件测试的经典方法。它的数学基础就是等价关系。每个等价类中的元素在测试意义上是'等价'的，所以只需选一个代表即可。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偏序关系和等价关系最大的区别在第二条性质：等价关系要求对称性，偏序关系要求反对称性。一个是'平等分类'，一个是'层级排序'。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这张对比表是考试的重点。大家注意：等价关系是'分类'，偏序关系是'排序'。同一个集合上可以定义不同的关系，关键在于你关注的是'相同'还是'先后'。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这个案例覆盖了我们今天学的大部分内容。我们先看问题1：如何定义等价关系？——'两个用例执行时间相同'。验证三个性质都满足。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我们验证了等价关系的三个性质，然后根据执行时间将8个用例划分为3个等价类。这就是等价类划分的完整过程。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哈斯图是展示偏序关系的直观工具。E₅在最底层，E₁₂在最顶层，箭头表示'小于等于'。注意：哈斯图省略了自反边和传递边。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这个问题很实际：我们既想覆盖所有等价类，又受时间约束。选最短的组合刚好25分钟，正好满足要求。这就是偏序关系在'优先级排序'中的应用。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现在分组讨论，4-5人一组，时间14分钟。第1题快速作答，第2题需要动手构造，第3题开放思考。每组选代表发言，其他组可以补充。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给大家3分钟独立完成。练习1的答案是等价关系——因为奇偶性相同的数相加为偶数。练习3的笛卡尔积有6个元素。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我们回顾一遍今天的内容。大家记住三个易错点：对称vs反对称、分类vs排序、划分的性质。现在回答我：等价关系和偏序关系的关键区别是什么？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作业分三层：基础题全体完成，提升题独立完成，探究题鼓励小组合作。探究任务需要结合端到端测试场景，这是我们把数学用到实际中的重要练习。下节课我们检查作业并继续学习新的内容。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下课前留几分钟答疑。如果大家没有问题，课后可以思考：偏序关系除了优先级排序，还能在测试的哪些方面发挥作用？我们下节课继续探讨。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3200400" cy="3200400"/>
          </a:xfrm>
          <a:prstGeom prst="ellipse">
            <a:avLst/>
          </a:prstGeom>
          <a:solidFill>
            <a:srgbClr val="D9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62895" cy="347472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D9E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362895" cy="73152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19072"/>
            <a:ext cx="54864" cy="3401568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9448495" cy="11887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3800" b="1">
                <a:solidFill>
                  <a:srgbClr val="1C5247"/>
                </a:solidFill>
                <a:latin typeface="Microsoft YaHei"/>
              </a:rPr>
              <a:t>第三章 集合与关系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9448495" cy="64008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000" b="0">
                <a:solidFill>
                  <a:srgbClr val="8A7968"/>
                </a:solidFill>
                <a:latin typeface="Microsoft YaHei"/>
              </a:rPr>
              <a:t>◆  端到端测试课程  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06240"/>
            <a:ext cx="944849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>
                <a:solidFill>
                  <a:srgbClr val="8A7968"/>
                </a:solidFill>
                <a:latin typeface="Microsoft YaHei"/>
              </a:rPr>
              <a:t>授课对象：计算机科学与技术专业 大二学生\n授课时长：90分钟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学习目标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掌握集合的基本概念与三种表示方法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熟练进行集合的并、交、差、补运算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理解二元关系的定义与三种表示方式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判断关系是否为等价关系，并找出等价类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区分等价关系与偏序关系，画出哈斯图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将集合与关系应用于测试用例设计与优先级排序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知识框架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集合基本概念（P1-P2）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集合运算与运算律（P2-P3）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二元关系定义与表示（P3-P4）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等价关系与集合划分（P4-P5）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偏序关系与哈斯图（P5-P6）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测试应用：等价类划分·用例优先级排序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课前导入：登录功能测试场景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某电商平台登录功能，有四类用户：正常用户、VIP用户、管理员、被封禁用户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问题1：如何精确描述“所有用户”这个整体？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问题2：如何表达“VIP用户和正常用户合在一起”？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问题3：如何定义“被封禁用户是除去其他三类后的剩余部分”？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问题4：测试用例分组背后的数学结构是什么？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集合的定义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对象称为集合的**元素**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大写字母表示集合，小写字母表示元素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元素与集合的关系：∈（属于）或 ∉（不属于）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集合中的元素具有**确定性、互异性、无序性**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例：所有合法用户名的集合 U = {x | x是长度6-20位的字母数字串}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集合的表示方法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列举法：逐一列出元素，如 A={1, 2, 3}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描述法：用性质描述，如 B={x | x是偶数}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列举法适用于有限集合或元素规律明显的集合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描述法适用于无限集合或元素较多的集合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测试应用：T = {t₁, t₂, …, tₙ} 表示所有测试用例的集合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集合的运算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并集：A∪B = {x | x∈A 或 x∈B}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交集：A∩B = {x | x∈A 且 x∈B}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差集：A-B = {x | x∈A 且 x∉B}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补集：设U为全集，则 Ā = U -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测试应用：设A为正常用户集合，B为VIP用户集合\nA∪B = 所有可享受基础服务的用户\nA∩B = 既是正常用户又是VIP的用户\nU-B = 所有非VIP用户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集合运算律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交换律：A∪B=B∪A，A∩B=B∩A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结合律：(A∪B)∪C=A∪(B∪C)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分配律：A∩(B∪C)=(A∩B)∪(A∩C)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德摩根律：A∪B = Ā∩B̄，A∩B = Ā∪B̄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微案例：集合运算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求 A∪B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求 A∩B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求 A-B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求 A 的补集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答案：A∪B={1,2,3,4}，A∩B={2,3}，A-B={1}，Ā={4,5,6}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二元关系的定义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A×B = {(a,b) | a∈A 且 b∈B} 称为笛卡尔积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若 A=B，则称R为A上的二元关系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若 (a,b)∈R，则记作 aRb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关系的表示：集合表达式、关系矩阵、关系图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测试应用：设I为测试输入集合，O为预期输出集合，则测试执行关系 R ⊆ I×O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09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等价关系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自反性：对任意x∈A，有 xRx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对称性：若 xRy，则 yRx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传递性：若 xRy 且 yRz，则 xRz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同时满足三条性质的关系称为**等价关系**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例：模3同余关系。\n1≡4(mod 3)，因为 4-1=3 能被3整除。\n等价类：{1,4,7}，{2,5,8}，{3,6,9}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等价类与集合划分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等价类：[a] = {x | xRa}，即与a等价的所有元素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等价类将集合划分为互不相交的子集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所有等价类的集合构成一个**划分**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划分中的每个块都是等价类，所有块互不相交且并集为全集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三步法：\n① 生活实例：班级按宿舍分组→划分\n② 模3同余→找出所有等价类→观察如何构成划分\n③ 给定一个划分→构造等价关系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等价类划分测试法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原理：将所有可能的输入数据按等价关系划分为若干等价类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从每个等价类中选取代表值进行测试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同一等价类中的测试用例具有相同的测试预期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减少重复测试，提高测试效率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登录功能示例：\n定义等价关系：'两个输入产生相同的登录结果'\n→ 所有输入被划分为'登录成功'和'登录失败'两个等价类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偏序关系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自反性：对任意x∈A，有 xRx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反对称性：若 xRy 且 yRx，则 x=y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传递性：若 xRy 且 yRz，则 xRz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同时满足三条性质的关系称为**偏序关系**，常用≤表示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测试应用：定义偏序关系'测试用例A比测试用例B更重要'，\n用于指导测试执行的先后顺序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64008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等价关系 vs 偏序关系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性质</a:t>
                      </a:r>
                    </a:p>
                  </a:txBody>
                  <a:tcPr>
                    <a:solidFill>
                      <a:srgbClr val="2E7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等价关系</a:t>
                      </a:r>
                    </a:p>
                  </a:txBody>
                  <a:tcPr>
                    <a:solidFill>
                      <a:srgbClr val="2E7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偏序关系</a:t>
                      </a:r>
                    </a:p>
                  </a:txBody>
                  <a:tcPr>
                    <a:solidFill>
                      <a:srgbClr val="2E7D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自反性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对称性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不要求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反对称性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不要求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传递性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满足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分类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排序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典型例子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模3同余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≤（小于等于）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图形表示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等价类划分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1810"/>
                          </a:solidFill>
                          <a:latin typeface="Microsoft YaHei"/>
                        </a:rPr>
                        <a:t>哈斯图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综合案例：测试用例的划分与排序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t₁=5, t₂=8, t₃=5, t₄=12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t₅=8, t₆=5, t₇=12, t₈=8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问题1：按执行时间对测试用例进行等价类划分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问题2：定义偏序关系'执行时间≤'在等价类上，画出哈斯图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问题3：若测试总时间不超过25分钟，如何选用例覆盖所有等价类？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综合案例：解答（1）等价类划分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定义等价关系：'两个用例执行时间相同'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验证自反性：每个用例与自己时间相同 ✓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验证对称性：t₁与t₃时间相同，则t₃与t₁也相同 ✓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验证传递性：t₁与t₃相同，t₃与t₆相同，则t₁与t₆相同 ✓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划分结果：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E₅ = {t₁, t₃, t₆}（执行时间5分钟）\nE₈ = {t₂, t₅, t₈}（执行时间8分钟）\nE₁₂ = {t₄, t₇}（执行时间12分钟）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综合案例：解答（2）偏序关系与哈斯图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在等价类集合 {E₅, E₈, E₁₂} 上定义：E₅ ≤ E₈ ≤ E₁₂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验证自反性：E₅≤E₅ ✓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验证反对称性：E₅≤E₈ 且 E₈≤E₅ 不成立（除非相等）✓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验证传递性：E₅≤E₈ 且 E₈≤E₁₂，则 E₅≤E₁₂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哈斯图：\n      E₁₂\n      ↑\n      E₈\n      ↑\n      E₅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综合案例：解答（3）选择测试用例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从每个等价类中至少选一个用例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组合总数：3 × 3 × 2 = 18 种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约束：总时间 ≤ 25 分钟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选择最短执行时间的组合：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从E₅选t₁（5分钟），从E₈选t₂（8分钟），从E₁₂选t₄（12分钟）\n总时间 = 5 + 8 + 12 = 25 分钟 ✓ 满足要求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💬 课堂互动：小组讨论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971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5486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548640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80160"/>
            <a:ext cx="917417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0">
                <a:solidFill>
                  <a:srgbClr val="2C1810"/>
                </a:solidFill>
                <a:latin typeface="Microsoft YaHei"/>
              </a:rPr>
              <a:t>▶ 基础题：判断R={(1,1),(2,2),(3,3),(1,2),(2,1)}是否为A={1,2,3}上的等价关系？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99971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03120"/>
            <a:ext cx="5486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548640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03120"/>
            <a:ext cx="917417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0">
                <a:solidFill>
                  <a:srgbClr val="2C1810"/>
                </a:solidFill>
                <a:latin typeface="Microsoft YaHei"/>
              </a:rPr>
              <a:t>▶ 提升题：设A={1,2,3,4}，给出A的一个划分，写出对应的等价关系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26080"/>
            <a:ext cx="99971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5486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548640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26080"/>
            <a:ext cx="917417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0">
                <a:solidFill>
                  <a:srgbClr val="2C1810"/>
                </a:solidFill>
                <a:latin typeface="Microsoft YaHei"/>
              </a:rPr>
              <a:t>▶ 探究题：定义偏序关系'若用例A依赖于B，则B≤A'，验证三性质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课堂练习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练习1：设A={1,2,3,4,5}，R={(x,y)|x+y是偶数}，判断R是否为等价关系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练习2：设A={1,2,3,4}，偏序关系≤为'整除关系'，画出哈斯图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练习3：A={a,b,c}，B={1,2}，求A×B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提示：练习1需验证自反、对称、传递；练习2注意1整除所有数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📋 课堂小结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集合论基础：定义、元素、表示法（P1-P2）</a:t>
            </a:r>
          </a:p>
          <a:p>
            <a:pPr algn="l">
              <a:lnSpc>
                <a:spcPct val="18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集合运算：并、交、差、补及运算律（P2-P3）</a:t>
            </a:r>
          </a:p>
          <a:p>
            <a:pPr algn="l">
              <a:lnSpc>
                <a:spcPct val="18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二元关系：定义、表示、性质（P3-P4）</a:t>
            </a:r>
          </a:p>
          <a:p>
            <a:pPr algn="l">
              <a:lnSpc>
                <a:spcPct val="18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等价关系：自反+对称+传递 → 等价类 → 划分（P4-P5）</a:t>
            </a:r>
          </a:p>
          <a:p>
            <a:pPr algn="l">
              <a:lnSpc>
                <a:spcPct val="18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偏序关系：自反+反对称+传递 → 哈斯图（P5-P6）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课后作业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基础巩固：教材P2习题1.1第1、3、5题（集合表示与运算）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能力提升：教材P4习题1.2第2题（判断等价关系）；教材P5习题1.3第1题（画哈斯图）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探究任务：选择一个软件功能，利用等价关系划分等价类，设计覆盖所有等价类的测试用例集，提交300字报告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62895" cy="640080"/>
          </a:xfrm>
          <a:prstGeom prst="roundRect">
            <a:avLst/>
          </a:prstGeom>
          <a:solidFill>
            <a:srgbClr val="FDF2E8"/>
          </a:solidFill>
          <a:ln w="6350">
            <a:solidFill>
              <a:srgbClr val="C7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814255" cy="54864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>
                <a:solidFill>
                  <a:srgbClr val="C75C2E"/>
                </a:solidFill>
                <a:latin typeface="Microsoft YaHei"/>
              </a:rPr>
              <a:t>★ 探究任务要求：\n① 写出等价关系的定义\n② 验证三个性质\n③ 列出划分结果和测试用例表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548640"/>
            <a:ext cx="2011680" cy="2011680"/>
          </a:xfrm>
          <a:prstGeom prst="ellipse">
            <a:avLst/>
          </a:prstGeom>
          <a:solidFill>
            <a:srgbClr val="F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0911535" cy="685800"/>
          </a:xfrm>
          <a:prstGeom prst="roundRect">
            <a:avLst/>
          </a:prstGeom>
          <a:solidFill>
            <a:srgbClr val="F0F7F5"/>
          </a:solidFill>
          <a:ln w="635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91440" cy="68580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320040" cy="32004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905695" cy="6858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400" b="1">
                <a:solidFill>
                  <a:srgbClr val="1C5247"/>
                </a:solidFill>
                <a:latin typeface="Microsoft YaHei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集合、关系、等价类……还有哪些疑问？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等价关系在测试中还能用在哪里？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E7D6E"/>
                </a:solidFill>
                <a:latin typeface="Microsoft YaHei"/>
              </a:rPr>
              <a:t>▸  </a:t>
            </a:r>
            <a:r>
              <a:rPr sz="1800">
                <a:solidFill>
                  <a:srgbClr val="2C1810"/>
                </a:solidFill>
                <a:latin typeface="Microsoft YaHei"/>
              </a:rPr>
              <a:t>▶ 偏序关系如何进一步用于测试优化？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11535" cy="18288"/>
          </a:xfrm>
          <a:prstGeom prst="rect">
            <a:avLst/>
          </a:prstGeom>
          <a:solidFill>
            <a:srgbClr val="E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274320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800" b="0">
                <a:solidFill>
                  <a:srgbClr val="8A7968"/>
                </a:solidFill>
                <a:latin typeface="Microsoft YaHei"/>
              </a:rPr>
              <a:t>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900" b="0">
                <a:solidFill>
                  <a:srgbClr val="8A7968"/>
                </a:solidFill>
                <a:latin typeface="Microsoft YaHei"/>
              </a:rPr>
              <a:t>23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